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4C81"/>
                </a:solidFill>
                <a:latin typeface="Calibri"/>
              </a:defRPr>
            </a:pPr>
            <a:r>
              <a:t>Airline Seat Reservation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Serverless Solution Architecture (AWS + Java Microservices)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Prepared for Leadership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4C81"/>
                </a:solidFill>
                <a:latin typeface="Calibri"/>
              </a:defRPr>
            </a:pPr>
            <a:r>
              <a:t>High-Level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React Web App → CloudFront → API Gateway → Lambda (Spring Boot)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Microservices: Flight, Booking, Seat Lock, Payment, Ticketing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DynamoDB for inventory &amp; booking data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Redis (ElastiCache) for seat locking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EventBridge / MSK for event-driven workflows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Step Functions for booking orchestration (Saga pattern)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S3 + SES for ticket generation and notification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CloudWatch + X-Ray for monitoring &amp; tracing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4C81"/>
                </a:solidFill>
                <a:latin typeface="Calibri"/>
              </a:defRPr>
            </a:pPr>
            <a:r>
              <a:t>AWS Services – Categorized by Functional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Backend Processing: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AWS Lambda – scalable compute for microservices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API Gateway – secure REST exposure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Step Functions – workflow orchestration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EventBridge / MSK – event-driven messaging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Data &amp; Storage: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DynamoDB – high-concurrency seat inventory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S3 – ticket storage &amp; archival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Cognito – authentication &amp; authorization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Caching Layer: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ElastiCache (Redis) – seat lock TTL management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CloudFront – search result caching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4C81"/>
                </a:solidFill>
                <a:latin typeface="Calibri"/>
              </a:defRPr>
            </a:pPr>
            <a:r>
              <a:t>End-to-End User Journey – Seat Booking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1. Search Flights – Query Flight Service (DynamoDB)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2. View Seat Availability – Redis + DynamoDB check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3. Lock Seat – Redis TTL + Conditional write in DynamoDB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4. Process Payment – Step Functions orchestration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5. Confirm Booking – Event published (BookingConfirmed)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6. Issue Ticket – PDF stored in S3 &amp; email via SES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Design Patterns: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Saga Pattern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Event-Driven Architecture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Optimistic Concurrency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4C81"/>
                </a:solidFill>
                <a:latin typeface="Calibri"/>
              </a:defRPr>
            </a:pPr>
            <a:r>
              <a:t>Conceptual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Core Entities: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Flight (flightId, source, destination, aircraftId)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Aircraft (aircraftId, seatLayout, capacity)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Seat (seatId, fareClass, status)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FareClass (price, baggagePolicy, cancellationPolicy)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Passenger (passengerId, name, passport)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Booking (bookingId, seatId, status, paymentId)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Consistency Model: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Strong consistency for seat inventory writes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Eventual consistency for flight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4C81"/>
                </a:solidFill>
                <a:latin typeface="Calibri"/>
              </a:defRPr>
            </a:pPr>
            <a:r>
              <a:t>Representative APIs (Complete Journey)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GET /flights?source=DEL&amp;destination=MUM&amp;date=2026-05-10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GET /flights/{flightId}/seats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POST /flights/{flightId}/seats/{seatId}/lock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POST /bookings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GET /bookings/{bookingId}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POST /bookings/{bookingId}/cancel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Test Strategy: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JUnit 5 + Mockito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80%+ code coverage using Jacoco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F4C81"/>
                </a:solidFill>
                <a:latin typeface="Calibri"/>
              </a:defRPr>
            </a:pPr>
            <a:r>
              <a:t>High-Level 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457200"/>
            <a:ext cx="3200400" cy="548640"/>
          </a:xfrm>
          <a:prstGeom prst="roundRect">
            <a:avLst/>
          </a:prstGeom>
          <a:solidFill>
            <a:srgbClr val="0099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React Web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3200400" cy="548640"/>
          </a:xfrm>
          <a:prstGeom prst="roundRect">
            <a:avLst/>
          </a:prstGeom>
          <a:solidFill>
            <a:srgbClr val="0099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CloudFront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3200400" cy="548640"/>
          </a:xfrm>
          <a:prstGeom prst="roundRect">
            <a:avLst/>
          </a:prstGeom>
          <a:solidFill>
            <a:srgbClr val="0099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API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3200400" cy="548640"/>
          </a:xfrm>
          <a:prstGeom prst="roundRect">
            <a:avLst/>
          </a:prstGeom>
          <a:solidFill>
            <a:srgbClr val="0099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Lambda (Spring Boot)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3200400" cy="548640"/>
          </a:xfrm>
          <a:prstGeom prst="roundRect">
            <a:avLst/>
          </a:prstGeom>
          <a:solidFill>
            <a:srgbClr val="0099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DynamoDB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14800"/>
            <a:ext cx="3200400" cy="548640"/>
          </a:xfrm>
          <a:prstGeom prst="roundRect">
            <a:avLst/>
          </a:prstGeom>
          <a:solidFill>
            <a:srgbClr val="0099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ElastiCache (Redis)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029200"/>
            <a:ext cx="3200400" cy="548640"/>
          </a:xfrm>
          <a:prstGeom prst="roundRect">
            <a:avLst/>
          </a:prstGeom>
          <a:solidFill>
            <a:srgbClr val="0099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Step Functions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943600"/>
            <a:ext cx="3200400" cy="548640"/>
          </a:xfrm>
          <a:prstGeom prst="roundRect">
            <a:avLst/>
          </a:prstGeom>
          <a:solidFill>
            <a:srgbClr val="0099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EventBridge / MSK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6858000"/>
            <a:ext cx="3200400" cy="548640"/>
          </a:xfrm>
          <a:prstGeom prst="roundRect">
            <a:avLst/>
          </a:prstGeom>
          <a:solidFill>
            <a:srgbClr val="0099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 Light"/>
              </a:defRPr>
            </a:pPr>
            <a:r>
              <a:t>S3 + 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4C81"/>
                </a:solidFill>
                <a:latin typeface="Calibri"/>
              </a:defRPr>
            </a:pPr>
            <a:r>
              <a:t>Key Architecture Decisions &amp;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Serverless-first architecture reduces operational overhead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DynamoDB chosen for massive concurrent seat booking scalability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Redis-based seat locking prevents overselling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Event-driven architecture ensures resilience &amp; loose coupling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Step Functions manage retries &amp; compensation logic</a:t>
            </a:r>
          </a:p>
          <a:p>
            <a:pPr>
              <a:defRPr sz="1800">
                <a:solidFill>
                  <a:srgbClr val="282828"/>
                </a:solidFill>
                <a:latin typeface="Calibri Light"/>
              </a:defRPr>
            </a:pPr>
            <a:r>
              <a:t>• Cloud-native observability with CloudWatch &amp; X-Ray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